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8656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3946"/>
          </a:solidFill>
          <a:ln w="12700">
            <a:solidFill>
              <a:srgbClr val="24394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530352"/>
            <a:ext cx="2651760" cy="384048"/>
          </a:xfrm>
          <a:prstGeom prst="rect">
            <a:avLst/>
          </a:prstGeom>
          <a:solidFill>
            <a:srgbClr val="DCEFEB"/>
          </a:solidFill>
          <a:ln>
            <a:solidFill>
              <a:srgbClr val="DCEF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150" b="1" dirty="0">
                <a:solidFill>
                  <a:srgbClr val="1C8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</a:t>
            </a:r>
            <a:r>
              <a:rPr lang="zh-CN" altLang="en-US" sz="1150" b="1" dirty="0">
                <a:solidFill>
                  <a:srgbClr val="1C8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r>
              <a:rPr lang="en-US" altLang="zh-CN" sz="1150" b="1" dirty="0" err="1">
                <a:solidFill>
                  <a:srgbClr val="1C8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</a:t>
            </a:r>
            <a:r>
              <a:rPr lang="en-US" sz="1150" b="1" dirty="0" err="1">
                <a:solidFill>
                  <a:srgbClr val="1C8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产品验证预算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0195560" y="384048"/>
            <a:ext cx="1280160" cy="438912"/>
          </a:xfrm>
          <a:prstGeom prst="roundRect">
            <a:avLst>
              <a:gd name="adj" fmla="val 16667"/>
            </a:avLst>
          </a:prstGeom>
          <a:solidFill>
            <a:srgbClr val="F7E5BE"/>
          </a:solidFill>
          <a:ln w="12700">
            <a:solidFill>
              <a:srgbClr val="F7E5B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9875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3个月产品创新预算：按全成本口径，总预算约 39.3 万元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16642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D69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预算按全新团队编制项目测算，包含人力成本与费用成本两大类。人力成本按现有核心团队 + 1 名制造专家的 3 个月投入，并统一加计 35% 社保成本。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841248" y="2084832"/>
            <a:ext cx="199339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7D3D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1284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97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测算口径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5840" y="23865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3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全成本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633472"/>
            <a:ext cx="1664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9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按全新团队编制项目计算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044952" y="2084832"/>
            <a:ext cx="199339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7D3D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9544" y="221284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97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人力成本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9544" y="23865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3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34.4 万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09544" y="2633472"/>
            <a:ext cx="1664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9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占总预算约 87.5%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257800" y="2084832"/>
            <a:ext cx="199339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7D3D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22392" y="221284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97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费用成本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22392" y="23865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3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4.9 万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22392" y="2633472"/>
            <a:ext cx="1664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9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占总预算约 12.5%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41248" y="3090672"/>
            <a:ext cx="3401568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3970">
            <a:solidFill>
              <a:srgbClr val="C7D3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3255264"/>
            <a:ext cx="1783080" cy="310896"/>
          </a:xfrm>
          <a:prstGeom prst="rect">
            <a:avLst/>
          </a:prstGeom>
          <a:solidFill>
            <a:srgbClr val="DCEFEB"/>
          </a:solidFill>
          <a:ln>
            <a:solidFill>
              <a:srgbClr val="DCEF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8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A. 人力成本 34.4 万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42416" y="3776472"/>
            <a:ext cx="100584" cy="100584"/>
          </a:xfrm>
          <a:prstGeom prst="ellipse">
            <a:avLst/>
          </a:prstGeom>
          <a:solidFill>
            <a:srgbClr val="1C8E89"/>
          </a:solidFill>
          <a:ln w="12700">
            <a:solidFill>
              <a:srgbClr val="1C8E8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07008" y="37307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核心团队：6 万 / 月 x 3 个月 = 18.0 万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1042416" y="4160520"/>
            <a:ext cx="100584" cy="100584"/>
          </a:xfrm>
          <a:prstGeom prst="ellipse">
            <a:avLst/>
          </a:prstGeom>
          <a:solidFill>
            <a:srgbClr val="1C8E89"/>
          </a:solidFill>
          <a:ln w="12700">
            <a:solidFill>
              <a:srgbClr val="1C8E8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07008" y="4114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制造专家：2.5 万 / 月 x 3 个月 = 7.5 万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1042416" y="4544568"/>
            <a:ext cx="100584" cy="100584"/>
          </a:xfrm>
          <a:prstGeom prst="ellipse">
            <a:avLst/>
          </a:prstGeom>
          <a:solidFill>
            <a:srgbClr val="1C8E89"/>
          </a:solidFill>
          <a:ln w="12700">
            <a:solidFill>
              <a:srgbClr val="1C8E8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07008" y="449884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人力原值合计：25.5 万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1042416" y="4928616"/>
            <a:ext cx="100584" cy="100584"/>
          </a:xfrm>
          <a:prstGeom prst="ellipse">
            <a:avLst/>
          </a:prstGeom>
          <a:solidFill>
            <a:srgbClr val="1C8E89"/>
          </a:solidFill>
          <a:ln w="12700">
            <a:solidFill>
              <a:srgbClr val="1C8E89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07008" y="48828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加计社保 35% 后：34.4 万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1042416" y="5157216"/>
            <a:ext cx="2999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5D69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对应 2+1 配置：AI 产品 + AI 架构师 + 工程/</a:t>
            </a:r>
            <a:r>
              <a:rPr lang="en-US" sz="840" dirty="0" err="1">
                <a:solidFill>
                  <a:srgbClr val="5D69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制造供应链专家</a:t>
            </a:r>
            <a:r>
              <a:rPr lang="en-US" sz="840" dirty="0">
                <a:solidFill>
                  <a:srgbClr val="5D69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4407408" y="3090672"/>
            <a:ext cx="3401568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3970">
            <a:solidFill>
              <a:srgbClr val="C7D3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90288" y="3255264"/>
            <a:ext cx="1783080" cy="310896"/>
          </a:xfrm>
          <a:prstGeom prst="rect">
            <a:avLst/>
          </a:prstGeom>
          <a:solidFill>
            <a:srgbClr val="F7E5BE"/>
          </a:solidFill>
          <a:ln>
            <a:solidFill>
              <a:srgbClr val="F7E5B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49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B. 费用成本 4.9 万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608576" y="3776472"/>
            <a:ext cx="100584" cy="100584"/>
          </a:xfrm>
          <a:prstGeom prst="ellipse">
            <a:avLst/>
          </a:prstGeom>
          <a:solidFill>
            <a:srgbClr val="D49A2A"/>
          </a:solidFill>
          <a:ln w="12700">
            <a:solidFill>
              <a:srgbClr val="D49A2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37307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基础算力池：0.3 万 / 月 x 3 = 0.9 万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4608576" y="4105656"/>
            <a:ext cx="100584" cy="100584"/>
          </a:xfrm>
          <a:prstGeom prst="ellipse">
            <a:avLst/>
          </a:prstGeom>
          <a:solidFill>
            <a:srgbClr val="D49A2A"/>
          </a:solidFill>
          <a:ln w="12700">
            <a:solidFill>
              <a:srgbClr val="D49A2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405993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其中模型调用 0.6 万，云服务 0.3 万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4608576" y="4434840"/>
            <a:ext cx="100584" cy="100584"/>
          </a:xfrm>
          <a:prstGeom prst="ellipse">
            <a:avLst/>
          </a:prstGeom>
          <a:solidFill>
            <a:srgbClr val="D49A2A"/>
          </a:solidFill>
          <a:ln w="12700">
            <a:solidFill>
              <a:srgbClr val="D49A2A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43891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机动预算：4.0 万 / 3个月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4608576" y="4764024"/>
            <a:ext cx="100584" cy="100584"/>
          </a:xfrm>
          <a:prstGeom prst="ellipse">
            <a:avLst/>
          </a:prstGeom>
          <a:solidFill>
            <a:srgbClr val="D49A2A"/>
          </a:solidFill>
          <a:ln w="12700">
            <a:solidFill>
              <a:srgbClr val="D49A2A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47183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 err="1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用于第三方工具采购、模型调参、数据清洗标注、智能硬件等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4608576" y="5093208"/>
            <a:ext cx="100584" cy="100584"/>
          </a:xfrm>
          <a:prstGeom prst="ellipse">
            <a:avLst/>
          </a:prstGeom>
          <a:solidFill>
            <a:srgbClr val="D49A2A"/>
          </a:solidFill>
          <a:ln w="12700">
            <a:solidFill>
              <a:srgbClr val="D49A2A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504748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费用预算总计：4.9 万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7973568" y="3090672"/>
            <a:ext cx="3401568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3970">
            <a:solidFill>
              <a:srgbClr val="C7D3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56448" y="3255264"/>
            <a:ext cx="1783080" cy="310896"/>
          </a:xfrm>
          <a:prstGeom prst="rect">
            <a:avLst/>
          </a:prstGeom>
          <a:solidFill>
            <a:srgbClr val="DFEFE7"/>
          </a:solidFill>
          <a:ln>
            <a:solidFill>
              <a:srgbClr val="DFEFE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E8E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C. 总预算与管理口径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174736" y="3776472"/>
            <a:ext cx="100584" cy="100584"/>
          </a:xfrm>
          <a:prstGeom prst="ellipse">
            <a:avLst/>
          </a:prstGeom>
          <a:solidFill>
            <a:srgbClr val="4E8E7C"/>
          </a:solidFill>
          <a:ln w="12700">
            <a:solidFill>
              <a:srgbClr val="4E8E7C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39328" y="37307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3个月总预算：34.4 万 + 4.9 万 = 39.3 万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8174736" y="4160520"/>
            <a:ext cx="100584" cy="100584"/>
          </a:xfrm>
          <a:prstGeom prst="ellipse">
            <a:avLst/>
          </a:prstGeom>
          <a:solidFill>
            <a:srgbClr val="4E8E7C"/>
          </a:solidFill>
          <a:ln w="12700">
            <a:solidFill>
              <a:srgbClr val="4E8E7C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39328" y="4114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 err="1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其中人力是决定性投入，费用用于提升</a:t>
            </a:r>
            <a:r>
              <a:rPr lang="en-US" altLang="zh-CN" sz="980" dirty="0" err="1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</a:t>
            </a:r>
            <a:r>
              <a:rPr lang="zh-CN" altLang="en-US" sz="98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</a:t>
            </a:r>
            <a:r>
              <a:rPr lang="en-US" sz="980" dirty="0" err="1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验证速度与质量</a:t>
            </a:r>
            <a:endParaRPr lang="en-US" sz="980" dirty="0"/>
          </a:p>
        </p:txBody>
      </p:sp>
      <p:sp>
        <p:nvSpPr>
          <p:cNvPr id="52" name="Shape 50"/>
          <p:cNvSpPr/>
          <p:nvPr/>
        </p:nvSpPr>
        <p:spPr>
          <a:xfrm>
            <a:off x="8174736" y="4544568"/>
            <a:ext cx="100584" cy="100584"/>
          </a:xfrm>
          <a:prstGeom prst="ellipse">
            <a:avLst/>
          </a:prstGeom>
          <a:solidFill>
            <a:srgbClr val="4E8E7C"/>
          </a:solidFill>
          <a:ln w="12700">
            <a:solidFill>
              <a:srgbClr val="4E8E7C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39328" y="449884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预算目标不是建设完整产品，而是支撑 O1/O2/O3 </a:t>
            </a:r>
            <a:r>
              <a:rPr lang="en-US" sz="980" dirty="0" err="1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闭环并交付验证结果</a:t>
            </a:r>
            <a:endParaRPr lang="en-US" sz="980" dirty="0"/>
          </a:p>
        </p:txBody>
      </p:sp>
      <p:sp>
        <p:nvSpPr>
          <p:cNvPr id="54" name="Shape 52"/>
          <p:cNvSpPr/>
          <p:nvPr/>
        </p:nvSpPr>
        <p:spPr>
          <a:xfrm>
            <a:off x="8174736" y="4928616"/>
            <a:ext cx="100584" cy="100584"/>
          </a:xfrm>
          <a:prstGeom prst="ellipse">
            <a:avLst/>
          </a:prstGeom>
          <a:solidFill>
            <a:srgbClr val="4E8E7C"/>
          </a:solidFill>
          <a:ln w="12700">
            <a:solidFill>
              <a:srgbClr val="4E8E7C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39328" y="48828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3个月后应形成继续投入 / 孵化 / 暂缓的决策依据</a:t>
            </a:r>
            <a:endParaRPr lang="en-US" sz="980" dirty="0"/>
          </a:p>
        </p:txBody>
      </p:sp>
      <p:sp>
        <p:nvSpPr>
          <p:cNvPr id="57" name="Shape 55"/>
          <p:cNvSpPr/>
          <p:nvPr/>
        </p:nvSpPr>
        <p:spPr>
          <a:xfrm>
            <a:off x="841248" y="5650992"/>
            <a:ext cx="1053388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3970">
            <a:solidFill>
              <a:srgbClr val="C7D3D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60704" y="5806440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汇报口径建议：39.3 万预算买的不是完整产品，而是 3 </a:t>
            </a:r>
            <a:r>
              <a:rPr lang="en-US" sz="1020" b="1" dirty="0" err="1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个月形成可决策的产品在企业内验证结论</a:t>
            </a:r>
            <a:r>
              <a:rPr lang="en-US" sz="1020" b="1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182</Words>
  <Application>Microsoft Macintosh PowerPoint</Application>
  <PresentationFormat>Widescreen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PingFang SC</vt:lpstr>
      <vt:lpstr>Arial</vt:lpstr>
      <vt:lpstr>Avenir</vt:lpstr>
      <vt:lpstr>Office Theme</vt:lpstr>
      <vt:lpstr>PowerPoint Presentation</vt:lpstr>
    </vt:vector>
  </TitlesOfParts>
  <Company>PMF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AI+制造 3个月产品创新预算</dc:title>
  <dc:subject>AI+制造 3个月产品创新预算建议</dc:subject>
  <dc:creator>OpenAI Codex</dc:creator>
  <cp:lastModifiedBy>Anthony</cp:lastModifiedBy>
  <cp:revision>3</cp:revision>
  <dcterms:created xsi:type="dcterms:W3CDTF">2026-03-20T05:21:10Z</dcterms:created>
  <dcterms:modified xsi:type="dcterms:W3CDTF">2026-03-20T05:55:16Z</dcterms:modified>
</cp:coreProperties>
</file>