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3946"/>
          </a:solidFill>
          <a:ln w="12700">
            <a:solidFill>
              <a:srgbClr val="2439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DCEFEB"/>
          </a:solidFill>
          <a:ln w="12700">
            <a:solidFill>
              <a:srgbClr val="DCEF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585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近期市场动态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195560" y="384048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DCEFEB"/>
          </a:solidFill>
          <a:ln w="12700">
            <a:solidFill>
              <a:srgbClr val="DCEF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987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 AI Agent 正从“对话工具”快速转向“桌面执行 + 企业落地”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过去 6-8 周最强的市场信号，不是模型再次升级，而是各家都在争夺“谁能真正替用户干活”的入口。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212848"/>
            <a:ext cx="3529584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240">
            <a:solidFill>
              <a:srgbClr val="C7D3D9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0976" y="2395728"/>
            <a:ext cx="1600200" cy="310896"/>
          </a:xfrm>
          <a:prstGeom prst="rect">
            <a:avLst/>
          </a:prstGeom>
          <a:solidFill>
            <a:srgbClr val="DCEFEB"/>
          </a:solidFill>
          <a:ln>
            <a:solidFill>
              <a:srgbClr val="DCEF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OpenClaw 热潮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9264" y="2916936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871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把“桌面 Agent / Computer Use”从极客圈推向企业管理层视野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69264" y="3337560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3291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价值叙事从“会回答”升级为“会调工具、会执行、会交付”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69264" y="3758184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37124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也同步暴露权限、安全、审计与长任务稳定性的短板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334256" y="2212848"/>
            <a:ext cx="3529584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240">
            <a:solidFill>
              <a:srgbClr val="C7D3D9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6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35424" y="2395728"/>
            <a:ext cx="1600200" cy="310896"/>
          </a:xfrm>
          <a:prstGeom prst="rect">
            <a:avLst/>
          </a:prstGeom>
          <a:solidFill>
            <a:srgbClr val="F7E5BE"/>
          </a:solidFill>
          <a:ln>
            <a:solidFill>
              <a:srgbClr val="F7E5B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9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国内大厂跟进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53712" y="2916936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871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阿里：钉钉 Agent OS / 悟空 与 AgentBay，强调企业入口与可管控部署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53712" y="3337560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291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腾讯：WorkBuddy / QClaw，强调桌面工作台、本地文件操作与多技能集成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53712" y="3758184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37124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竞争焦点已从单纯模型能力，转向生态入口、系统接入与安全边界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918704" y="2212848"/>
            <a:ext cx="3529584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240">
            <a:solidFill>
              <a:srgbClr val="C7D3D9"/>
            </a:solidFill>
            <a:prstDash val="solid"/>
          </a:ln>
          <a:effectLst>
            <a:outerShdw sx="100000" sy="100000" kx="0" ky="0" algn="bl" rotWithShape="0" blurRad="12700" dist="50800" dir="2700000">
              <a:srgbClr val="D9E1E6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9872" y="2395728"/>
            <a:ext cx="1600200" cy="310896"/>
          </a:xfrm>
          <a:prstGeom prst="rect">
            <a:avLst/>
          </a:prstGeom>
          <a:solidFill>
            <a:srgbClr val="DFEFE7"/>
          </a:solidFill>
          <a:ln>
            <a:solidFill>
              <a:srgbClr val="DFEFE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8E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英伟达上移到底座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2916936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71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NeMo / NIM / AI Blueprints 强化企业 Agent 的基础设施能力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38160" y="3337560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3291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说明市场正从“单体 Agent”走向“编排、治理、部署”的体系化竞争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138160" y="3758184"/>
            <a:ext cx="100584" cy="100584"/>
          </a:xfrm>
          <a:prstGeom prst="ellipse">
            <a:avLst/>
          </a:prstGeom>
          <a:solidFill>
            <a:srgbClr val="4E8E7C"/>
          </a:solidFill>
          <a:ln w="12700">
            <a:solidFill>
              <a:srgbClr val="4E8E7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7124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对制造业而言，私有化、可观测、可审计很快会从加分项变成门槛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49808" y="4535424"/>
            <a:ext cx="10698480" cy="1335024"/>
          </a:xfrm>
          <a:prstGeom prst="roundRect">
            <a:avLst>
              <a:gd name="adj" fmla="val 5479"/>
            </a:avLst>
          </a:prstGeom>
          <a:solidFill>
            <a:srgbClr val="FFFFFF">
              <a:alpha val="0"/>
            </a:srgbClr>
          </a:solidFill>
          <a:ln w="15240">
            <a:solidFill>
              <a:srgbClr val="C7D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709160"/>
            <a:ext cx="1508760" cy="310896"/>
          </a:xfrm>
          <a:prstGeom prst="rect">
            <a:avLst/>
          </a:prstGeom>
          <a:solidFill>
            <a:srgbClr val="DCEFEB"/>
          </a:solidFill>
          <a:ln>
            <a:solidFill>
              <a:srgbClr val="DCEF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对我们的启发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1832" y="5202936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6424" y="5157216"/>
            <a:ext cx="9939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非标制造不会先为通用桌面助手买单，而会先为高频、强约束、可计量的流程 Agent 买单。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41832" y="5477256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6424" y="5431536"/>
            <a:ext cx="9939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优先切入离钱近且样本易拿的岗位任务：标准件选型、报价、质量文档，是更现实的三条线。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941832" y="5751576"/>
            <a:ext cx="100584" cy="100584"/>
          </a:xfrm>
          <a:prstGeom prst="ellipse">
            <a:avLst/>
          </a:prstGeom>
          <a:solidFill>
            <a:srgbClr val="1C8E89"/>
          </a:solidFill>
          <a:ln w="12700">
            <a:solidFill>
              <a:srgbClr val="1C8E8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6424" y="5705856"/>
            <a:ext cx="9939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我们的路线应聚焦“垂直工作流闭环”，而不是一开始就做大而全的 Agent 平台。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768096" y="6199632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7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公开市场样本：OpenClaw docs；阿里云 AgentBay / 企业 Agent 相关文档；腾讯公开产品报道；NVIDIA GTC / Agentic AI materials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3946"/>
          </a:solidFill>
          <a:ln w="12700">
            <a:solidFill>
              <a:srgbClr val="2439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7E5BE"/>
          </a:solidFill>
          <a:ln w="12700">
            <a:solidFill>
              <a:srgbClr val="F7E5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585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8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机会池与发现地图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195560" y="384048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F7E5BE"/>
          </a:solidFill>
          <a:ln w="12700">
            <a:solidFill>
              <a:srgbClr val="F7E5B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987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非标制造 Agent 机会池正在收敛到 3 条主线，标准件选型最适合作为首个闭环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不是把 11 个机会并行推进，而是用“离钱近 + 数据可得 + 3个月可验证”三个标准，把机会池收敛成主项目、备选线与学习线。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2194560"/>
            <a:ext cx="148132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22576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机会点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487168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当前池内总量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94560"/>
            <a:ext cx="148132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322576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活跃工作集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0048" y="2487168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Top 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670048" y="2761488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进入本轮深挖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69664" y="2194560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232257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结构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34256" y="24871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 / 1 / 1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334256" y="2761488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 / 备 / 学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16752" y="2194560"/>
            <a:ext cx="213969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7D3D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2322576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97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当前主项目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81344" y="248716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D3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OPP-011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181344" y="2761488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标准件选型 -&gt; 采购优化</a:t>
            </a:r>
            <a:endParaRPr lang="en-US" sz="8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3054096"/>
            <a:ext cx="6720840" cy="263347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754112" y="3054096"/>
            <a:ext cx="3675888" cy="263347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C7D3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73568" y="3236976"/>
            <a:ext cx="1572768" cy="310896"/>
          </a:xfrm>
          <a:prstGeom prst="rect">
            <a:avLst/>
          </a:prstGeom>
          <a:solidFill>
            <a:srgbClr val="F7E5BE"/>
          </a:solidFill>
          <a:ln>
            <a:solidFill>
              <a:srgbClr val="F7E5B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当前收敛逻辑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91856" y="3703320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56448" y="365760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优先保留三类机会：离钱近、数据可得、3个月内能形成 A / B / C 结论。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7991856" y="4123944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56448" y="40782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主项目 OPP-011：兼具采购价值与标准化价值，且已有气缸类验证进展。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7991856" y="4544568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56448" y="44988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备选线 OPP-001：内部 RFQ / 历史报价数据强，但首个报价切片需要继续收窄。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7991856" y="4965192"/>
            <a:ext cx="100584" cy="100584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56448" y="491947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学习线 OPP-002：质量端痛点真实，但客户现场离线与高安全要求会拉高落地复杂度。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841248" y="5870448"/>
            <a:ext cx="1058875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7D3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24128" y="6016752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F2D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Top 6：OPP-011 / OPP-001 / OPP-002 / OPP-003 / OPP-004 / OPP-007    |    运行方式：1 个主项目 + 1 个备选线 + 1 个学习线，而不是平台式铺开。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PMF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 AI Agent 市场动态与机会池</dc:title>
  <dc:subject>Chairman weekly report supplement pages</dc:subject>
  <dc:creator>OpenAI Codex</dc:creator>
  <cp:lastModifiedBy>OpenAI Codex</cp:lastModifiedBy>
  <cp:revision>1</cp:revision>
  <dcterms:created xsi:type="dcterms:W3CDTF">2026-03-19T10:28:44Z</dcterms:created>
  <dcterms:modified xsi:type="dcterms:W3CDTF">2026-03-19T10:28:44Z</dcterms:modified>
</cp:coreProperties>
</file>